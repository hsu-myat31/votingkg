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8" r:id="rId16"/>
    <p:sldId id="272" r:id="rId17"/>
    <p:sldId id="273" r:id="rId18"/>
    <p:sldId id="279" r:id="rId19"/>
    <p:sldId id="274" r:id="rId20"/>
    <p:sldId id="275" r:id="rId21"/>
    <p:sldId id="276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8CEA5-D213-4AC1-BD71-38D55A1192B3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752A4-5C93-4957-B608-0A48AA00B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0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F0558-7E4C-4D16-82CE-3B7EE7127804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1954-16EC-40C2-97C6-3621428ABBD3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AC78-E2CB-448A-B4BA-78431712B7B7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3E0DB-F416-4488-BC42-5023A4F972C5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5D9C-BFB5-4EF9-AA14-9CC8653D3457}" type="datetime1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739D-E5DF-4B89-B800-9472FA4EC1E2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E2BFF-84F1-4B48-BFA2-5D1A3162AED7}" type="datetime1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CEIT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330A476-F8F7-46A7-8EB4-4E4B8FE27BE9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CEIT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1155-F5B6-4647-B452-16B7586922E0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F7A8-3901-4654-AD56-EE5FA5FD72FD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C5E0-6DAF-443C-A62A-922C71AF453C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45FB99C-FEBF-47C1-8523-56592D8BD4E3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DF6401-0618-4E9B-B091-9526C4A4512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931D-4E63-4D24-80B5-CFF45BD2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Basics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19530-B20A-4FC4-B81C-5F2930BE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CEIT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3E782-D1A6-4B8F-A185-33066A89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C21686-E3EA-4D1F-AEF3-24F21B8CDA35}"/>
              </a:ext>
            </a:extLst>
          </p:cNvPr>
          <p:cNvSpPr txBox="1"/>
          <p:nvPr/>
        </p:nvSpPr>
        <p:spPr>
          <a:xfrm>
            <a:off x="1273126" y="3201757"/>
            <a:ext cx="9706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Chapter-2</a:t>
            </a:r>
          </a:p>
        </p:txBody>
      </p:sp>
    </p:spTree>
    <p:extLst>
      <p:ext uri="{BB962C8B-B14F-4D97-AF65-F5344CB8AC3E}">
        <p14:creationId xmlns:p14="http://schemas.microsoft.com/office/powerpoint/2010/main" val="64306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418F-D30F-4CDC-B86A-B6585124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14679"/>
            <a:ext cx="10058400" cy="748454"/>
          </a:xfrm>
        </p:spPr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What is HTML?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F26DF-AA5A-419C-AF38-F1A239FCB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3550" indent="-4079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HTML (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HyperText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 Markup Language) is a set of markup symbols or codes placed in a file for display on a web page.</a:t>
            </a:r>
          </a:p>
          <a:p>
            <a:pPr marL="463550" indent="-4079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It identifies structural elements like paragraphs, headings and lists.</a:t>
            </a:r>
          </a:p>
          <a:p>
            <a:pPr marL="463550" indent="-4079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HTML allows media such as graphics, videos and audio to be displayed.</a:t>
            </a:r>
          </a:p>
          <a:p>
            <a:pPr marL="463550" indent="-4079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Browsers interpret the markup code and render the page for platform-independent display.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89C10-122C-4739-9594-8E560667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334C1-3B51-4245-85F1-87759570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9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B911-F084-4435-8C71-ECE652FD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Page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14902-B9CF-4772-8412-F57F022B4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basic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page template is as follows: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r>
              <a:rPr lang="en-US" b="0" i="0" u="none" strike="noStrike" baseline="0" dirty="0">
                <a:solidFill>
                  <a:srgbClr val="006FC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b="0" i="0" u="none" strike="noStrike" baseline="0" dirty="0" err="1">
                <a:solidFill>
                  <a:srgbClr val="006FC0"/>
                </a:solidFill>
                <a:latin typeface="Times New Roman" panose="02020603050405020304" pitchFamily="18" charset="0"/>
              </a:rPr>
              <a:t>en</a:t>
            </a:r>
            <a:r>
              <a:rPr lang="en-US" b="0" i="0" u="none" strike="noStrike" baseline="0" dirty="0">
                <a:solidFill>
                  <a:srgbClr val="006FC0"/>
                </a:solidFill>
                <a:latin typeface="Times New Roman" panose="02020603050405020304" pitchFamily="18" charset="0"/>
              </a:rPr>
              <a:t>"&gt;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08782B"/>
                </a:solidFill>
                <a:latin typeface="Times New Roman" panose="02020603050405020304" pitchFamily="18" charset="0"/>
              </a:rPr>
              <a:t>	&lt;head&gt;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&lt;title&gt;Page Title Goes Here&lt;/title&gt;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&lt;meta charset="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utf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-8"&gt;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08782B"/>
                </a:solidFill>
                <a:latin typeface="Times New Roman" panose="02020603050405020304" pitchFamily="18" charset="0"/>
              </a:rPr>
              <a:t>	&lt;/head&gt;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FFC000"/>
                </a:solidFill>
                <a:latin typeface="Times New Roman" panose="02020603050405020304" pitchFamily="18" charset="0"/>
              </a:rPr>
              <a:t>	&lt;body&gt;</a:t>
            </a:r>
          </a:p>
          <a:p>
            <a:pPr marL="384175" lvl="2" indent="0"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... body text and more HTML tags go here ... </a:t>
            </a:r>
          </a:p>
          <a:p>
            <a:pPr marL="384175" lvl="2" indent="0">
              <a:buNone/>
            </a:pPr>
            <a:r>
              <a:rPr lang="en-US" sz="2000" b="0" i="0" u="none" strike="noStrike" baseline="0" dirty="0">
                <a:solidFill>
                  <a:srgbClr val="FFC000"/>
                </a:solidFill>
                <a:latin typeface="Times New Roman" panose="02020603050405020304" pitchFamily="18" charset="0"/>
              </a:rPr>
              <a:t>	&lt;/body&gt;</a:t>
            </a:r>
          </a:p>
          <a:p>
            <a:r>
              <a:rPr lang="en-US" b="0" i="0" u="none" strike="noStrike" baseline="0" dirty="0">
                <a:solidFill>
                  <a:srgbClr val="006FC0"/>
                </a:solidFill>
                <a:latin typeface="Times New Roman" panose="02020603050405020304" pitchFamily="18" charset="0"/>
              </a:rPr>
              <a:t>&lt;/html&gt;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3CF230-E52E-4BFE-8F2C-AD4E9F40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465A1-2045-479C-AF7F-AC8663DA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0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4945F-02FB-4D16-BF86-06033E19A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75497"/>
          </a:xfrm>
        </p:spPr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HTML Elements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4B8BC-4C6E-428E-8603-A42CC48F8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1500"/>
            <a:ext cx="10205720" cy="4419600"/>
          </a:xfrm>
        </p:spPr>
        <p:txBody>
          <a:bodyPr>
            <a:noAutofit/>
          </a:bodyPr>
          <a:lstStyle/>
          <a:p>
            <a:pPr marL="228600" indent="-2286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&lt;html&gt; element indicates that the document is HTML formatted and tells the browser how to interpret it.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Placement:</a:t>
            </a:r>
          </a:p>
          <a:p>
            <a:pPr marL="342900" indent="0">
              <a:spcBef>
                <a:spcPts val="0"/>
              </a:spcBef>
              <a:spcAft>
                <a:spcPts val="600"/>
              </a:spcAft>
              <a:buFont typeface="Times New Roman" panose="02020603050405020304" pitchFamily="18" charset="0"/>
              <a:buChar char="–"/>
              <a:tabLst>
                <a:tab pos="342900" algn="l"/>
              </a:tabLs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opening tag &lt;html&gt; is placed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right below the doc type declaration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.</a:t>
            </a:r>
          </a:p>
          <a:p>
            <a:pPr marL="342900" indent="0">
              <a:spcBef>
                <a:spcPts val="0"/>
              </a:spcBef>
              <a:spcAft>
                <a:spcPts val="600"/>
              </a:spcAft>
              <a:buFont typeface="Times New Roman" panose="02020603050405020304" pitchFamily="18" charset="0"/>
              <a:buChar char="–"/>
              <a:tabLst>
                <a:tab pos="342900" algn="l"/>
              </a:tabLs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closing tag &lt;/html&gt; is placed at the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end of the document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, after all other HTML elements.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Language Attribute (lang)</a:t>
            </a:r>
          </a:p>
          <a:p>
            <a:pPr marL="406400" indent="-90488">
              <a:spcBef>
                <a:spcPts val="0"/>
              </a:spcBef>
              <a:spcAft>
                <a:spcPts val="600"/>
              </a:spcAft>
              <a:buFont typeface="Times New Roman" panose="02020603050405020304" pitchFamily="18" charset="0"/>
              <a:buChar char="–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The&lt;html&gt;element should specify the spoken language of the document.</a:t>
            </a:r>
          </a:p>
          <a:p>
            <a:pPr marL="406400" indent="-90488">
              <a:spcBef>
                <a:spcPts val="0"/>
              </a:spcBef>
              <a:spcAft>
                <a:spcPts val="600"/>
              </a:spcAft>
              <a:buFont typeface="Times New Roman" panose="02020603050405020304" pitchFamily="18" charset="0"/>
              <a:buChar char="–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This is done using the lang attribute.</a:t>
            </a:r>
          </a:p>
          <a:p>
            <a:pPr marL="406400" indent="-90488">
              <a:spcBef>
                <a:spcPts val="0"/>
              </a:spcBef>
              <a:spcAft>
                <a:spcPts val="600"/>
              </a:spcAft>
              <a:buFont typeface="Times New Roman" panose="02020603050405020304" pitchFamily="18" charset="0"/>
              <a:buChar char="–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pPr marL="406400" indent="-90488">
              <a:spcBef>
                <a:spcPts val="0"/>
              </a:spcBef>
              <a:spcAft>
                <a:spcPts val="600"/>
              </a:spcAft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</a:rPr>
              <a:t>“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</a:rPr>
              <a:t>” 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indicates English.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14FE3-10F8-478E-9571-09AEB507E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CEIT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09D50-9496-4E7F-8D3C-A6CD3C9E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8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9A02-0B1D-4ACE-9A4E-2FF2B99E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9297"/>
          </a:xfrm>
        </p:spPr>
        <p:txBody>
          <a:bodyPr>
            <a:normAutofit/>
          </a:bodyPr>
          <a:lstStyle/>
          <a:p>
            <a:r>
              <a:rPr lang="en-US" sz="4000" b="1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Head, Title, Meta, and Body Elements</a:t>
            </a:r>
            <a:endParaRPr lang="en-US" sz="8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BA3F-9084-44FE-93AD-B21DD7D12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5425" indent="-225425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Two sections on a web page:</a:t>
            </a:r>
          </a:p>
          <a:p>
            <a:pPr marL="225425" indent="-225425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Head section ( header section)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</a:rPr>
              <a:t>      - 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head section contains information that describes the web page document</a:t>
            </a:r>
          </a:p>
          <a:p>
            <a:pPr marL="225425" indent="-225425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Body section</a:t>
            </a:r>
            <a:endParaRPr lang="en-US" sz="2400" b="0" i="0" u="none" strike="noStrike" baseline="0" dirty="0">
              <a:solidFill>
                <a:srgbClr val="404040"/>
              </a:solidFill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</a:rPr>
              <a:t>     - 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body section contains the actual tags, text, images and other objects that are displayed by the browser as a web page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1014A-11E3-4265-A054-84FF2818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FA3BC-CC41-4EF2-A148-A41652C1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4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A6974-943A-4F36-A3BF-86A6FA907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084" y="2048501"/>
            <a:ext cx="10058400" cy="4207920"/>
          </a:xfrm>
        </p:spPr>
        <p:txBody>
          <a:bodyPr>
            <a:normAutofit/>
          </a:bodyPr>
          <a:lstStyle/>
          <a:p>
            <a:pPr marL="463550" indent="-4635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&lt;head&gt; element contains important meta information about the webpage.</a:t>
            </a:r>
          </a:p>
          <a:p>
            <a:pPr marL="463550" indent="-4635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It begins with &lt;head&gt; and ends with &lt;/head&gt;.</a:t>
            </a:r>
          </a:p>
          <a:p>
            <a:pPr marL="463550" indent="-4635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Common elements in the &lt;head&gt; section:</a:t>
            </a:r>
          </a:p>
          <a:p>
            <a:pPr marL="1027113" indent="-90488">
              <a:lnSpc>
                <a:spcPct val="110000"/>
              </a:lnSpc>
            </a:pPr>
            <a:r>
              <a:rPr lang="en-US" sz="24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&lt;title&gt;element</a:t>
            </a:r>
          </a:p>
          <a:p>
            <a:pPr marL="1027113" indent="-90488">
              <a:lnSpc>
                <a:spcPct val="110000"/>
              </a:lnSpc>
            </a:pPr>
            <a:r>
              <a:rPr lang="en-US" sz="24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&lt;meta&gt;element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9E347-8371-4338-B4D1-610FCEA0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0EA7E-9E92-4B37-8900-19207D1D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2A9F3E-FC48-4B56-8790-38FD5A49B0CF}"/>
              </a:ext>
            </a:extLst>
          </p:cNvPr>
          <p:cNvSpPr txBox="1">
            <a:spLocks/>
          </p:cNvSpPr>
          <p:nvPr/>
        </p:nvSpPr>
        <p:spPr>
          <a:xfrm>
            <a:off x="1175084" y="40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9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2421-6299-41A1-9940-B7EBF5FB0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&lt;title&gt; Element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CADF-DC08-4763-8028-5C44CC0C1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4548"/>
            <a:ext cx="10058400" cy="4023360"/>
          </a:xfrm>
        </p:spPr>
        <p:txBody>
          <a:bodyPr>
            <a:normAutofit fontScale="92500" lnSpcReduction="10000"/>
          </a:bodyPr>
          <a:lstStyle/>
          <a:p>
            <a:pPr marL="520700" indent="-457200">
              <a:buFont typeface="Wingdings" panose="05000000000000000000" pitchFamily="2" charset="2"/>
              <a:buChar char="§"/>
            </a:pP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Configures the text that appears in the browser’s title bar.</a:t>
            </a:r>
          </a:p>
          <a:p>
            <a:pPr marL="520700" indent="-457200">
              <a:buFont typeface="Wingdings" panose="05000000000000000000" pitchFamily="2" charset="2"/>
              <a:buChar char="§"/>
            </a:pP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text between &lt;title&gt; and &lt;/title&gt; is used for:</a:t>
            </a:r>
          </a:p>
          <a:p>
            <a:pPr marL="746125" indent="-63500"/>
            <a:r>
              <a:rPr lang="en-US" sz="28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</a:t>
            </a: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Bookmark sand printed pages.</a:t>
            </a:r>
          </a:p>
          <a:p>
            <a:pPr marL="746125" indent="-63500"/>
            <a:r>
              <a:rPr lang="en-US" sz="28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</a:t>
            </a: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Search engine optimization (SEO) to determine key word relevance.</a:t>
            </a:r>
          </a:p>
          <a:p>
            <a:pPr marL="746125" indent="-63500"/>
            <a:r>
              <a:rPr lang="en-US" sz="28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</a:t>
            </a: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Displaying titles on search engine results pages.</a:t>
            </a:r>
          </a:p>
          <a:p>
            <a:pPr marL="356235" lvl="1" indent="-63500"/>
            <a:endParaRPr lang="en-US" sz="2600" b="0" i="0" u="none" strike="noStrike" baseline="0" dirty="0">
              <a:solidFill>
                <a:srgbClr val="404040"/>
              </a:solidFill>
              <a:latin typeface="Times New Roman" panose="02020603050405020304" pitchFamily="18" charset="0"/>
            </a:endParaRPr>
          </a:p>
          <a:p>
            <a:pPr marL="292735" lvl="1" indent="0">
              <a:buNone/>
            </a:pPr>
            <a:r>
              <a:rPr lang="en-US" sz="26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&lt;title&gt; My Website-Home &lt;/title&gt;</a:t>
            </a:r>
          </a:p>
          <a:p>
            <a:endParaRPr lang="en-US" sz="1800" b="0" i="0" u="none" strike="noStrike" baseline="0" dirty="0">
              <a:solidFill>
                <a:srgbClr val="40404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8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1C971-F41E-45C4-AB2F-BF17689C5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C3D5A-C49A-46FB-A6B7-ABEE8F6BB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0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19B7-2F20-452C-AF32-5D5641E2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88197"/>
          </a:xfrm>
        </p:spPr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&lt;meta&gt; Element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C3552-E2DB-4EBC-B33D-A6A988689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342900">
              <a:buFont typeface="Wingdings" panose="05000000000000000000" pitchFamily="2" charset="2"/>
              <a:buChar char="§"/>
            </a:pP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Provides characteristics of a webpage, such as character encoding.</a:t>
            </a:r>
          </a:p>
          <a:p>
            <a:pPr marL="457200" indent="-342900">
              <a:buFont typeface="Wingdings" panose="05000000000000000000" pitchFamily="2" charset="2"/>
              <a:buChar char="§"/>
            </a:pP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Character encoding define show letters, numbers and symbols are stored and transmitted.</a:t>
            </a:r>
          </a:p>
          <a:p>
            <a:pPr marL="457200" indent="-342900">
              <a:buFont typeface="Wingdings" panose="05000000000000000000" pitchFamily="2" charset="2"/>
              <a:buChar char="§"/>
            </a:pP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UTF-8 is the most common character encoding, as it supports a wide range of characters (Unicode).</a:t>
            </a:r>
          </a:p>
          <a:p>
            <a:pPr marL="457200" indent="-342900" algn="just">
              <a:buFont typeface="Wingdings" panose="05000000000000000000" pitchFamily="2" charset="2"/>
              <a:buChar char="§"/>
            </a:pP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The&lt;meta&gt; tag is a self-contained or void element in </a:t>
            </a:r>
            <a:r>
              <a:rPr lang="en-US" sz="28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HTML5</a:t>
            </a: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.</a:t>
            </a:r>
          </a:p>
          <a:p>
            <a:pPr marL="457200" indent="-342900">
              <a:buFont typeface="Wingdings" panose="05000000000000000000" pitchFamily="2" charset="2"/>
              <a:buChar char="§"/>
            </a:pP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&lt;meta charset="</a:t>
            </a:r>
            <a:r>
              <a:rPr lang="en-US" sz="28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utf</a:t>
            </a:r>
            <a:r>
              <a:rPr lang="en-US" sz="2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-8"&gt;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11978-75CA-44E7-B844-AC467CE0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1FEAA-1CBC-44F5-8CFD-A6CE8265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1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AA11-B5CC-40BC-97C5-09C68177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The Body Section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9DDD-005B-491D-9A96-D2A860CAA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Displays content directly in the browser viewport.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Configures the webpage’s visible content.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Begins with &lt;body&gt; and ends with &lt;/body&gt;.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Most web page code is written within this section. Includes text, images, video sand interactive elements.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B0827-720A-4E4D-B06E-AE7A96F6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15338-9BF7-4A7F-B354-1F13238A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6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8025-696C-406B-AFA3-6C17D613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84997"/>
          </a:xfrm>
        </p:spPr>
        <p:txBody>
          <a:bodyPr/>
          <a:lstStyle/>
          <a:p>
            <a:r>
              <a:rPr lang="en-US" sz="4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EBD23-04CA-46BA-A72B-683E4CFEB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2324003"/>
            <a:ext cx="6329559" cy="4622800"/>
          </a:xfrm>
        </p:spPr>
        <p:txBody>
          <a:bodyPr>
            <a:normAutofit/>
          </a:bodyPr>
          <a:lstStyle/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pPr marL="201295" lvl="1" indent="0">
              <a:buNone/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</a:rPr>
              <a:t>	&lt;title&gt; My First </a:t>
            </a:r>
            <a:r>
              <a:rPr lang="en-US" sz="240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HTML5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</a:rPr>
              <a:t> Web Page &lt;/title&gt;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&lt;meta charset="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utf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-8"&gt;</a:t>
            </a:r>
          </a:p>
          <a:p>
            <a:pPr marL="384175" lvl="2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Hello World!</a:t>
            </a:r>
          </a:p>
          <a:p>
            <a:pPr marL="384175" lvl="2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&lt;/html&gt;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46FE7-4666-4BDB-97C7-EBBFC9BE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8A0CC-2ECF-44AD-8EFC-2F32B5F06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407F0D-9983-4D6D-B94E-5C06CD779B4B}"/>
              </a:ext>
            </a:extLst>
          </p:cNvPr>
          <p:cNvSpPr txBox="1"/>
          <p:nvPr/>
        </p:nvSpPr>
        <p:spPr>
          <a:xfrm>
            <a:off x="1154083" y="1744036"/>
            <a:ext cx="100584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following code is the first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A08C88-2633-4F53-89FE-9C4F270D2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010" y="2135693"/>
            <a:ext cx="4436896" cy="3371689"/>
          </a:xfrm>
          <a:prstGeom prst="rect">
            <a:avLst/>
          </a:prstGeom>
        </p:spPr>
      </p:pic>
      <p:sp>
        <p:nvSpPr>
          <p:cNvPr id="9" name="직사각형 19">
            <a:extLst>
              <a:ext uri="{FF2B5EF4-FFF2-40B4-BE49-F238E27FC236}">
                <a16:creationId xmlns:a16="http://schemas.microsoft.com/office/drawing/2014/main" id="{91C35664-C258-4F36-8AF9-3DAEB83CFE62}"/>
              </a:ext>
            </a:extLst>
          </p:cNvPr>
          <p:cNvSpPr/>
          <p:nvPr/>
        </p:nvSpPr>
        <p:spPr>
          <a:xfrm>
            <a:off x="7682010" y="5583917"/>
            <a:ext cx="443689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defTabSz="612291">
              <a:defRPr/>
            </a:pPr>
            <a:r>
              <a:rPr lang="en-US" altLang="ko-KR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: Hello World web page </a:t>
            </a:r>
          </a:p>
        </p:txBody>
      </p:sp>
    </p:spTree>
    <p:extLst>
      <p:ext uri="{BB962C8B-B14F-4D97-AF65-F5344CB8AC3E}">
        <p14:creationId xmlns:p14="http://schemas.microsoft.com/office/powerpoint/2010/main" val="3344473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2F47-8083-4613-B55D-CFD5A124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509582"/>
            <a:ext cx="10058400" cy="968440"/>
          </a:xfrm>
        </p:spPr>
        <p:txBody>
          <a:bodyPr/>
          <a:lstStyle/>
          <a:p>
            <a:r>
              <a:rPr lang="en-US" sz="4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HTML Heading Elements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5788D-1629-430C-8B58-1C0C36D5F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50266"/>
          </a:xfrm>
        </p:spPr>
        <p:txBody>
          <a:bodyPr>
            <a:normAutofit lnSpcReduction="10000"/>
          </a:bodyPr>
          <a:lstStyle/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Organized into six levels: 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to 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h6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&gt;.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Rendered as a block of text with white space above and below.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Text size:</a:t>
            </a:r>
          </a:p>
          <a:p>
            <a:pPr marL="342900" indent="-90488"/>
            <a:r>
              <a:rPr lang="en-US" sz="24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&gt;: Largest</a:t>
            </a:r>
          </a:p>
          <a:p>
            <a:pPr marL="342900" indent="-90488"/>
            <a:r>
              <a:rPr lang="en-US" sz="24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h6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&gt;: Smallest</a:t>
            </a:r>
          </a:p>
          <a:p>
            <a:pPr marL="342900" indent="-90488"/>
            <a:r>
              <a:rPr lang="en-US" sz="24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h4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&gt;, 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h5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&gt;, 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h6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may be smaller than default text size.</a:t>
            </a:r>
          </a:p>
          <a:p>
            <a:pPr marL="292100" indent="-2921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Font style: Bold for all heading levels.</a:t>
            </a:r>
          </a:p>
          <a:p>
            <a:pPr marL="292100" indent="-2921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Used to structure and emphasize content on a web page.</a:t>
            </a:r>
          </a:p>
          <a:p>
            <a:pPr marL="292100" indent="-2921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Attribute –align (right/ left(default) / center / justify)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37819-B6A8-46CD-A93E-EEF13930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6F537-0B0A-43A8-9202-CBF70C33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CD9B4-636E-4656-A836-FBD73EB6FEF9}"/>
              </a:ext>
            </a:extLst>
          </p:cNvPr>
          <p:cNvSpPr txBox="1"/>
          <p:nvPr/>
        </p:nvSpPr>
        <p:spPr>
          <a:xfrm>
            <a:off x="8508989" y="4657267"/>
            <a:ext cx="3568711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D0D0D"/>
                </a:solidFill>
                <a:latin typeface="Times New Roman" panose="02020603050405020304" pitchFamily="18" charset="0"/>
              </a:rPr>
              <a:t>&lt;body&gt;</a:t>
            </a:r>
          </a:p>
          <a:p>
            <a:r>
              <a:rPr lang="en-US" sz="2400" b="0" i="0" u="none" strike="noStrike" baseline="0" dirty="0">
                <a:solidFill>
                  <a:srgbClr val="0D0D0D"/>
                </a:solidFill>
                <a:latin typeface="Times New Roman" panose="02020603050405020304" pitchFamily="18" charset="0"/>
              </a:rPr>
              <a:t>&lt;</a:t>
            </a:r>
            <a:r>
              <a:rPr lang="en-US" sz="2400" b="0" i="0" u="none" strike="noStrike" baseline="0" dirty="0" err="1">
                <a:solidFill>
                  <a:srgbClr val="0D0D0D"/>
                </a:solidFill>
                <a:latin typeface="Times New Roman" panose="02020603050405020304" pitchFamily="18" charset="0"/>
              </a:rPr>
              <a:t>h1</a:t>
            </a:r>
            <a:r>
              <a:rPr lang="en-US" sz="2400" b="0" i="0" u="none" strike="noStrike" baseline="0" dirty="0">
                <a:solidFill>
                  <a:srgbClr val="0D0D0D"/>
                </a:solidFill>
                <a:latin typeface="Times New Roman" panose="02020603050405020304" pitchFamily="18" charset="0"/>
              </a:rPr>
              <a:t> align=“</a:t>
            </a:r>
            <a:r>
              <a:rPr lang="en-US" sz="2400" b="1" i="0" u="none" strike="noStrike" baseline="0" dirty="0">
                <a:solidFill>
                  <a:srgbClr val="0D0D0D"/>
                </a:solidFill>
                <a:latin typeface="Times New Roman" panose="02020603050405020304" pitchFamily="18" charset="0"/>
              </a:rPr>
              <a:t>center</a:t>
            </a:r>
            <a:r>
              <a:rPr lang="en-US" sz="2400" b="0" i="0" u="none" strike="noStrike" baseline="0" dirty="0">
                <a:solidFill>
                  <a:srgbClr val="0D0D0D"/>
                </a:solidFill>
                <a:latin typeface="Times New Roman" panose="02020603050405020304" pitchFamily="18" charset="0"/>
              </a:rPr>
              <a:t>"&gt; ………. &lt;/</a:t>
            </a:r>
            <a:r>
              <a:rPr lang="en-US" sz="2400" b="0" i="0" u="none" strike="noStrike" baseline="0" dirty="0" err="1">
                <a:solidFill>
                  <a:srgbClr val="0D0D0D"/>
                </a:solidFill>
                <a:latin typeface="Times New Roman" panose="02020603050405020304" pitchFamily="18" charset="0"/>
              </a:rPr>
              <a:t>h1</a:t>
            </a:r>
            <a:r>
              <a:rPr lang="en-US" sz="2400" b="0" i="0" u="none" strike="noStrike" baseline="0" dirty="0">
                <a:solidFill>
                  <a:srgbClr val="0D0D0D"/>
                </a:solidFill>
                <a:latin typeface="Times New Roman" panose="02020603050405020304" pitchFamily="18" charset="0"/>
              </a:rPr>
              <a:t>&gt;</a:t>
            </a:r>
          </a:p>
          <a:p>
            <a:r>
              <a:rPr lang="en-US" sz="2400" b="0" i="0" u="none" strike="noStrike" baseline="0" dirty="0">
                <a:solidFill>
                  <a:srgbClr val="0D0D0D"/>
                </a:solidFill>
                <a:latin typeface="Times New Roman" panose="02020603050405020304" pitchFamily="18" charset="0"/>
              </a:rPr>
              <a:t>&lt;/body&gt;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8057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5E42-64C5-4470-BDE6-63FC43D7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80468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sz="8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CE04C-661E-467B-8E6A-6C9204F5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04C76-607D-4288-B988-F532CE5A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D6C45-6691-422D-8375-3EC4340A5696}"/>
              </a:ext>
            </a:extLst>
          </p:cNvPr>
          <p:cNvSpPr txBox="1"/>
          <p:nvPr/>
        </p:nvSpPr>
        <p:spPr>
          <a:xfrm>
            <a:off x="979517" y="1658938"/>
            <a:ext cx="60782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&lt;head&gt;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&lt;title&gt;Heading Example&lt;/title&gt;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&lt;meta charset="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utf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-8"&gt;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&lt;/head&gt;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&lt;body&gt;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&gt;Heading Level 1&lt;/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h2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&gt;Heading Level 2&lt;/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h2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h3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&gt;Heading Level 3&lt;/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h3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h4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&gt;Heading Level 4&lt;/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h4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h5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&gt;Heading Level 5&lt;/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h5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	&lt;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h6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&gt;Heading Level 6&lt;/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h6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&lt;/body&gt;</a:t>
            </a:r>
          </a:p>
          <a:p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912FCC9A-D042-4D5F-8DF0-16E1BE1D9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838" y="1897156"/>
            <a:ext cx="4719842" cy="342764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직사각형 19">
            <a:extLst>
              <a:ext uri="{FF2B5EF4-FFF2-40B4-BE49-F238E27FC236}">
                <a16:creationId xmlns:a16="http://schemas.microsoft.com/office/drawing/2014/main" id="{477616C7-DA4B-47B1-9A0B-9FAE1613249F}"/>
              </a:ext>
            </a:extLst>
          </p:cNvPr>
          <p:cNvSpPr/>
          <p:nvPr/>
        </p:nvSpPr>
        <p:spPr>
          <a:xfrm>
            <a:off x="6435838" y="5430863"/>
            <a:ext cx="471984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defTabSz="612291">
              <a:defRPr/>
            </a:pPr>
            <a:r>
              <a:rPr lang="en-US" altLang="ko-KR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Web Page document with six levels headings</a:t>
            </a:r>
          </a:p>
        </p:txBody>
      </p:sp>
    </p:spTree>
    <p:extLst>
      <p:ext uri="{BB962C8B-B14F-4D97-AF65-F5344CB8AC3E}">
        <p14:creationId xmlns:p14="http://schemas.microsoft.com/office/powerpoint/2010/main" val="3965107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0BC25-E24B-4B48-B6DC-127D41C2B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HTML Paragraph Elements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EB892-1743-42BF-B3D2-F8EED9FA1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6352"/>
            <a:ext cx="10058400" cy="4023360"/>
          </a:xfrm>
        </p:spPr>
        <p:txBody>
          <a:bodyPr/>
          <a:lstStyle/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Used to group sentences and sections of text.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Enclosed by &lt;p&gt; and &lt;/p&gt; tags.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Displayed as a block with white space above and below.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Attribute : align (right/left(default)/center/justify)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5838F-275E-4F26-AEE3-F829D04B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2A29A-762D-4E61-9169-70E68F68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CD5EDA-6D0A-41EB-83DF-C38C07534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422" y="4274960"/>
            <a:ext cx="6701854" cy="157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06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F9C3-FAB5-4280-928F-A7D980B4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3090"/>
            <a:ext cx="10058400" cy="1450757"/>
          </a:xfrm>
        </p:spPr>
        <p:txBody>
          <a:bodyPr/>
          <a:lstStyle/>
          <a:p>
            <a:r>
              <a:rPr lang="en-US" sz="4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HTML Paragraph Elements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C2682-5077-4257-89D8-08562E528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70" y="1737359"/>
            <a:ext cx="6521708" cy="4722425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&lt;title&gt;Paragraph Example&lt;/title&gt;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&lt;meta charset="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utf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-8"&gt;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&gt;Heading Level 1&lt;/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pPr marL="300038" lvl="1" indent="0" algn="just" defTabSz="685800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is a sample paragraph.&lt;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Heading tags can help to make your pages more accessible and usable. It is good coding practice to use heading tags to outline the structure of your web page content.&lt;/p&gt;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EDE44-D806-41CE-9052-DF1ECF462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225DA-E620-4EE7-BA39-D586BBF7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5BFD3-E28A-4A00-8567-7E400DCD9F60}"/>
              </a:ext>
            </a:extLst>
          </p:cNvPr>
          <p:cNvSpPr txBox="1">
            <a:spLocks/>
          </p:cNvSpPr>
          <p:nvPr/>
        </p:nvSpPr>
        <p:spPr>
          <a:xfrm>
            <a:off x="8016240" y="1751482"/>
            <a:ext cx="3677690" cy="465203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0038" lvl="1" indent="0" algn="just" defTabSz="685800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&gt;Heading level 2&lt;/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00038" lvl="1" indent="0" algn="just" defTabSz="685800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&gt;Heading level 3&lt;/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00038" lvl="1" indent="0" algn="just" defTabSz="685800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h4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&gt;Heading level 4&lt;/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h4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00038" lvl="1" indent="0" algn="just" defTabSz="685800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h5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&gt;Heading level 5&lt;/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h5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00038" lvl="1" indent="0" algn="just" defTabSz="685800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&gt;Heading level 6&lt;/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53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63C0-A301-4795-AB40-2DAC0A5B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Output…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AA68B-8B09-45CC-8A8D-330D6C8DB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4463C-54EC-435A-A84D-AFF6FBEB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15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880D25-1495-48DF-99AB-9388A70CE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212" y="1781072"/>
            <a:ext cx="6835575" cy="4187635"/>
          </a:xfrm>
          <a:prstGeom prst="rect">
            <a:avLst/>
          </a:prstGeom>
        </p:spPr>
      </p:pic>
      <p:sp>
        <p:nvSpPr>
          <p:cNvPr id="7" name="직사각형 19">
            <a:extLst>
              <a:ext uri="{FF2B5EF4-FFF2-40B4-BE49-F238E27FC236}">
                <a16:creationId xmlns:a16="http://schemas.microsoft.com/office/drawing/2014/main" id="{D6AA3556-308B-4D53-871D-A25B6748ACDA}"/>
              </a:ext>
            </a:extLst>
          </p:cNvPr>
          <p:cNvSpPr/>
          <p:nvPr/>
        </p:nvSpPr>
        <p:spPr>
          <a:xfrm>
            <a:off x="3962400" y="5968707"/>
            <a:ext cx="42672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12291">
              <a:defRPr/>
            </a:pPr>
            <a:r>
              <a:rPr lang="en-US" altLang="ko-KR" sz="17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en-US" altLang="ko-KR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Web Page document with a paragraph</a:t>
            </a:r>
          </a:p>
        </p:txBody>
      </p:sp>
    </p:spTree>
    <p:extLst>
      <p:ext uri="{BB962C8B-B14F-4D97-AF65-F5344CB8AC3E}">
        <p14:creationId xmlns:p14="http://schemas.microsoft.com/office/powerpoint/2010/main" val="2699832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E1FA-07D8-48E7-89CA-135A2F91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Line Break Element (&lt;</a:t>
            </a:r>
            <a:r>
              <a:rPr lang="en-US" sz="4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br</a:t>
            </a:r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83DD-8519-4851-8BE9-690CEF055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17558"/>
            <a:ext cx="10058400" cy="3751536"/>
          </a:xfrm>
        </p:spPr>
        <p:txBody>
          <a:bodyPr/>
          <a:lstStyle/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Advances text to the next line on a webpage.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Tag Format: 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br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(void element, no closing tag).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Used to create line breaks without starting a new paragraph.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Enhances text formatting and read 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8680C-D3E2-474B-9359-367B60C7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4806D-2237-4782-B61E-8DB67FA1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36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0981-9A16-437C-BD71-4F99D42F7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08BC-D02C-461F-AEB1-674FD0236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7266"/>
          </a:xfrm>
        </p:spPr>
        <p:txBody>
          <a:bodyPr>
            <a:normAutofit fontScale="92500" lnSpcReduction="10000"/>
          </a:bodyPr>
          <a:lstStyle/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&lt;title&gt;Line Break Example&lt;/title&gt;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&lt;meta charset="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utf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-8"&gt;</a:t>
            </a:r>
          </a:p>
          <a:p>
            <a:pPr marL="201295" lvl="1" indent="0"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&gt;Heading Level 1&lt;/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&lt;p&gt;This is a sample paragraph. 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br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Heading tags can help to make your pages more accessible and usable. &lt;/p&gt;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pPr marL="201295" lvl="1" indent="0">
              <a:buNone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&lt;/html&gt;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E5A57-A961-49F9-8181-797DAB50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6D645-6211-4771-A43A-B0ABD067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90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515F-FD14-4E65-872B-747618A8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Output…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B9DA7-56C1-47DA-A22A-055EAF26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2A15D-2F21-41CA-B907-8D9A228B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18</a:t>
            </a:fld>
            <a:endParaRPr lang="en-US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59470413-07A5-4CE8-B8EB-EBFED2F80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8122" y="1827886"/>
            <a:ext cx="6564440" cy="3959504"/>
          </a:xfrm>
          <a:prstGeom prst="rect">
            <a:avLst/>
          </a:prstGeom>
        </p:spPr>
      </p:pic>
      <p:sp>
        <p:nvSpPr>
          <p:cNvPr id="7" name="직사각형 19">
            <a:extLst>
              <a:ext uri="{FF2B5EF4-FFF2-40B4-BE49-F238E27FC236}">
                <a16:creationId xmlns:a16="http://schemas.microsoft.com/office/drawing/2014/main" id="{00B56035-6894-4F41-B7FD-476C55DFAF6D}"/>
              </a:ext>
            </a:extLst>
          </p:cNvPr>
          <p:cNvSpPr/>
          <p:nvPr/>
        </p:nvSpPr>
        <p:spPr>
          <a:xfrm>
            <a:off x="3810000" y="5859579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12291">
              <a:defRPr/>
            </a:pPr>
            <a:r>
              <a:rPr lang="en-US" altLang="ko-KR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The line break after the first sentence</a:t>
            </a:r>
          </a:p>
        </p:txBody>
      </p:sp>
    </p:spTree>
    <p:extLst>
      <p:ext uri="{BB962C8B-B14F-4D97-AF65-F5344CB8AC3E}">
        <p14:creationId xmlns:p14="http://schemas.microsoft.com/office/powerpoint/2010/main" val="1630279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DF54-06AB-40F0-AC82-0698538B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Blockquote Element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898BC-981E-4865-BCEC-09505BD5A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Used to display a block of quoted text.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Formatting: Indented from both left and right margins.</a:t>
            </a:r>
          </a:p>
          <a:p>
            <a:pPr marL="406400" indent="-4064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Syntax:</a:t>
            </a:r>
          </a:p>
          <a:p>
            <a:pPr marL="457200" indent="-90488"/>
            <a:r>
              <a:rPr lang="en-US" sz="24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 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Begins with &lt;blockquote&gt;</a:t>
            </a:r>
          </a:p>
          <a:p>
            <a:pPr marL="457200" indent="-90488"/>
            <a:r>
              <a:rPr lang="en-US" sz="2400" b="0" i="0" u="none" strike="noStrike" baseline="0" dirty="0">
                <a:solidFill>
                  <a:srgbClr val="1CACE3"/>
                </a:solidFill>
                <a:latin typeface="Calibri" panose="020F0502020204030204" pitchFamily="34" charset="0"/>
              </a:rPr>
              <a:t>◦ 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Ends with&lt;/blockquote&gt;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Enhances read ability and highlights quotations on webpages.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DBA1-C5D0-4E82-98CC-4FAECE24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C4947-6866-4EE1-9CF3-6C17612D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68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4739-734E-473E-9FC2-2870074E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3382"/>
            <a:ext cx="10058400" cy="1084997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079D6-879E-4DEF-8889-919FAD306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1643845"/>
            <a:ext cx="10058400" cy="475244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pPr marL="384175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&lt;title&gt;Block quote Example &lt;/title&gt;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&lt;meta charset="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utf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-8"&gt;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&gt;The Power of the Web &lt;/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&lt;p&gt;According to Tim Berners - Lee, the inventor of the World Wide Web,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404040"/>
                </a:solidFill>
                <a:latin typeface="Times New Roman" panose="02020603050405020304" pitchFamily="18" charset="0"/>
              </a:rPr>
              <a:t>	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 at http://</a:t>
            </a:r>
            <a:r>
              <a:rPr lang="en-US" sz="2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www.w3.org</a:t>
            </a: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/WAI/:&lt;/p&gt;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&lt;blockquote&gt;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The power of the Web is in its universality. Access by everyone regardless of disability is 	an essential aspect.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	&lt;/blockquote&gt;</a:t>
            </a: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2C99D6-BFBF-4F3B-907E-8E0CFABA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DCFF0-C2E6-4641-AD0B-32534F14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55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F0B0-7017-4995-8B28-8094349A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Phrase Elements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E5CB2-20C2-49B0-886B-A69D845C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700" indent="-3429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Indicate the context and meaning of text between the container tags.</a:t>
            </a:r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Inline with surrounding text (inline display).</a:t>
            </a:r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Can be used for a section of text or even a single character.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8A507-71EB-4B02-A308-4A18EB894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B8D40-EF0D-4FCC-94F4-0A29F72C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87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92B2D-A608-4A99-8589-CADB9257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CB5E4-7901-497F-908D-61845142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5100-E554-4F38-8DCB-B6B4BDF3B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4" y="901970"/>
            <a:ext cx="11178583" cy="50897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3D4E5A-6C04-4AD7-8C08-86A1E1C1E921}"/>
              </a:ext>
            </a:extLst>
          </p:cNvPr>
          <p:cNvSpPr/>
          <p:nvPr/>
        </p:nvSpPr>
        <p:spPr>
          <a:xfrm>
            <a:off x="465455" y="459079"/>
            <a:ext cx="341018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Lists of Phrase Elements</a:t>
            </a:r>
          </a:p>
        </p:txBody>
      </p:sp>
    </p:spTree>
    <p:extLst>
      <p:ext uri="{BB962C8B-B14F-4D97-AF65-F5344CB8AC3E}">
        <p14:creationId xmlns:p14="http://schemas.microsoft.com/office/powerpoint/2010/main" val="3815914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ED8EDF-8A77-4372-BDC5-060FD40C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4310F-8053-4806-A886-0B34BF14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0EDA8-E054-41A6-9204-302FED7ED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35" y="865765"/>
            <a:ext cx="11575198" cy="52703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99F0D0-5CED-42A2-AD8E-3635329552AB}"/>
              </a:ext>
            </a:extLst>
          </p:cNvPr>
          <p:cNvSpPr/>
          <p:nvPr/>
        </p:nvSpPr>
        <p:spPr>
          <a:xfrm>
            <a:off x="420026" y="320323"/>
            <a:ext cx="38342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Lists of Phrase Elements</a:t>
            </a:r>
          </a:p>
        </p:txBody>
      </p:sp>
    </p:spTree>
    <p:extLst>
      <p:ext uri="{BB962C8B-B14F-4D97-AF65-F5344CB8AC3E}">
        <p14:creationId xmlns:p14="http://schemas.microsoft.com/office/powerpoint/2010/main" val="3811213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848EEC-BC69-46C5-8003-AE20FEC6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23FCEB-7E4C-4884-9926-83C873A3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24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93877B-9447-4BA1-A259-355CE718484F}"/>
              </a:ext>
            </a:extLst>
          </p:cNvPr>
          <p:cNvGrpSpPr/>
          <p:nvPr/>
        </p:nvGrpSpPr>
        <p:grpSpPr>
          <a:xfrm>
            <a:off x="1122469" y="1354179"/>
            <a:ext cx="9947062" cy="4737132"/>
            <a:chOff x="828790" y="1621465"/>
            <a:chExt cx="8943469" cy="3969658"/>
          </a:xfrm>
        </p:grpSpPr>
        <p:graphicFrame>
          <p:nvGraphicFramePr>
            <p:cNvPr id="5" name="Content Placeholder 13">
              <a:extLst>
                <a:ext uri="{FF2B5EF4-FFF2-40B4-BE49-F238E27FC236}">
                  <a16:creationId xmlns:a16="http://schemas.microsoft.com/office/drawing/2014/main" id="{CE342548-7D33-4BD4-9489-FC039DE3426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76361465"/>
                </p:ext>
              </p:extLst>
            </p:nvPr>
          </p:nvGraphicFramePr>
          <p:xfrm>
            <a:off x="828790" y="1621465"/>
            <a:ext cx="8943469" cy="3969658"/>
          </p:xfrm>
          <a:graphic>
            <a:graphicData uri="http://schemas.openxmlformats.org/drawingml/2006/table">
              <a:tbl>
                <a:tblPr firstRow="1" bandRow="1"/>
                <a:tblGrid>
                  <a:gridCol w="104572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37805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785939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737338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76011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Element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BDFC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400" b="1" noProof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Description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BDFC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400" b="1" noProof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Usage</a:t>
                        </a:r>
                        <a:endPara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BDFC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Output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7BDFCA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11717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&lt;samp&gt;</a:t>
                        </a:r>
                        <a:endPara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Sample text</a:t>
                        </a:r>
                        <a:endPara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u="none" strike="noStrike" kern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&lt;p&gt; The output of the program is </a:t>
                        </a:r>
                        <a:r>
                          <a:rPr lang="en-US" sz="1400" u="none" strike="noStrike" kern="12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&lt;samp&gt; Hello World! &lt;/samp&gt;</a:t>
                        </a:r>
                        <a:r>
                          <a:rPr lang="en-US" sz="1400" u="none" strike="noStrike" kern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 &lt;/p&gt;</a:t>
                        </a:r>
                        <a:endPara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117170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&lt;strong&gt;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Important text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kern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&lt;p&gt;This is also called </a:t>
                        </a:r>
                        <a:r>
                          <a:rPr lang="en-US" sz="1400" kern="12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&lt;strong&gt;inline&lt;/strong&gt;</a:t>
                        </a:r>
                        <a:r>
                          <a:rPr lang="en-US" sz="1400" kern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 elements.&lt;/p&gt;</a:t>
                        </a:r>
                        <a:endPara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261876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&lt;q&gt;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Double quote text</a:t>
                        </a:r>
                        <a:endParaRPr lang="en-US" sz="1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&lt;p&gt;This table is </a:t>
                        </a:r>
                        <a:r>
                          <a:rPr lang="en-US" sz="14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&lt;q&gt;The list of phrase elements&lt;/q&gt; .</a:t>
                        </a:r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&lt;/p&gt;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86490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&lt;small&gt;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One size smaller text</a:t>
                        </a:r>
                        <a:endParaRPr lang="en-US" sz="1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kern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&lt;p&gt; This is </a:t>
                        </a:r>
                        <a:r>
                          <a:rPr lang="en-US" sz="1400" kern="12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&lt;small&gt; command phrase elements&lt;/small&gt; .</a:t>
                        </a:r>
                        <a:r>
                          <a:rPr lang="en-US" sz="1400" kern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&lt;/p&gt;</a:t>
                        </a:r>
                        <a:endPara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ysClr val="windowText" lastClr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0E9A42-3E09-4FED-9870-DBFB26581E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667" t="34872" r="30290" b="58663"/>
            <a:stretch/>
          </p:blipFill>
          <p:spPr>
            <a:xfrm>
              <a:off x="5564573" y="2103422"/>
              <a:ext cx="3997657" cy="554598"/>
            </a:xfrm>
            <a:prstGeom prst="rect">
              <a:avLst/>
            </a:prstGeom>
            <a:ln w="19050">
              <a:solidFill>
                <a:srgbClr val="01796F"/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393D729-BAC3-4D32-9180-9B687E0521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667" t="41106" r="34702" b="51343"/>
            <a:stretch/>
          </p:blipFill>
          <p:spPr>
            <a:xfrm>
              <a:off x="5581655" y="3021810"/>
              <a:ext cx="3980575" cy="540803"/>
            </a:xfrm>
            <a:prstGeom prst="rect">
              <a:avLst/>
            </a:prstGeom>
            <a:ln w="19050">
              <a:solidFill>
                <a:srgbClr val="01796F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631AD88-77F4-40AD-8922-7606D4E822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1665" t="41106" r="32732" b="51160"/>
            <a:stretch/>
          </p:blipFill>
          <p:spPr>
            <a:xfrm>
              <a:off x="5573575" y="4016052"/>
              <a:ext cx="3963490" cy="540804"/>
            </a:xfrm>
            <a:prstGeom prst="rect">
              <a:avLst/>
            </a:prstGeom>
            <a:ln w="19050">
              <a:solidFill>
                <a:srgbClr val="01796F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A1A0E9-8151-4E7E-85E1-430CD6F7E0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49" t="19408" r="78296" b="72581"/>
            <a:stretch/>
          </p:blipFill>
          <p:spPr>
            <a:xfrm>
              <a:off x="5586224" y="5006638"/>
              <a:ext cx="3963490" cy="540803"/>
            </a:xfrm>
            <a:prstGeom prst="rect">
              <a:avLst/>
            </a:prstGeom>
            <a:ln w="19050">
              <a:solidFill>
                <a:srgbClr val="01796F"/>
              </a:solidFill>
            </a:ln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29CB5E7-4D76-4559-8D47-9925DC2CEFC1}"/>
              </a:ext>
            </a:extLst>
          </p:cNvPr>
          <p:cNvSpPr/>
          <p:nvPr/>
        </p:nvSpPr>
        <p:spPr>
          <a:xfrm>
            <a:off x="1122469" y="766689"/>
            <a:ext cx="3838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3: Lists of Phrase Elements</a:t>
            </a:r>
          </a:p>
        </p:txBody>
      </p:sp>
    </p:spTree>
    <p:extLst>
      <p:ext uri="{BB962C8B-B14F-4D97-AF65-F5344CB8AC3E}">
        <p14:creationId xmlns:p14="http://schemas.microsoft.com/office/powerpoint/2010/main" val="4175208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2A13E1-48E2-404E-AD7B-F4BA80EB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BF406F-9A75-43BA-B69A-9DD5398F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0F628E-9737-41D4-A08E-BBEECCBB09F7}"/>
              </a:ext>
            </a:extLst>
          </p:cNvPr>
          <p:cNvSpPr/>
          <p:nvPr/>
        </p:nvSpPr>
        <p:spPr>
          <a:xfrm>
            <a:off x="437431" y="892485"/>
            <a:ext cx="31965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4: Lists of Phrase Elements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20DFD-369D-48B8-A682-9F554A3DA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3" y="1386172"/>
            <a:ext cx="11151254" cy="408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33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A9BACA-93E9-4EED-A8B0-961D5E20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D47542-C901-4B29-838B-8A13A0A2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EA833-1D95-4ECA-BD04-3E6EF1C28488}"/>
              </a:ext>
            </a:extLst>
          </p:cNvPr>
          <p:cNvSpPr txBox="1"/>
          <p:nvPr/>
        </p:nvSpPr>
        <p:spPr>
          <a:xfrm>
            <a:off x="216451" y="1106101"/>
            <a:ext cx="1155582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&lt;meta charset="UTF-8"&gt;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&lt;title&gt;HTML Elements Example&lt;/title&gt;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r>
              <a:rPr lang="pt-BR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&lt;h1&gt;HTML Elements Example&lt;/h1&gt;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abbr</a:t>
            </a:r>
            <a:r>
              <a:rPr lang="en-US" sz="2200" dirty="0">
                <a:solidFill>
                  <a:srgbClr val="404040"/>
                </a:solidFill>
                <a:latin typeface="Times New Roman" panose="02020603050405020304" pitchFamily="18" charset="0"/>
              </a:rPr>
              <a:t> 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title="Hypertext Markup Language"&gt;HTML&lt;/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abbr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is a &lt;b&gt;markup&lt;/b&gt; language.&lt;/p&gt;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&lt;p&gt;&lt;strong&gt;This text is strong&lt;/strong&gt; and &lt;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em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&gt;this text is emphasized&lt;/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em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&gt;.&lt;/p&gt;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i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&gt;This is italicized text&lt;/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i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and &lt;mark&gt;this is highlighted&lt;/mark&gt;.&lt;/p&gt;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&lt;p&gt;&lt;small&gt;This is small text&lt;/small&gt; and &lt;big&gt;This is big text&lt;/big&gt;.&lt;/p&gt;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&lt;p&gt;&lt;sup&gt;This is superscript&lt;/sup&gt; and &lt;sub&gt;This is subscript&lt;/sub&gt;.&lt;/p&gt;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&lt;/html&gt;</a:t>
            </a:r>
            <a:r>
              <a:rPr lang="en-US" sz="22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24 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9D03FF-253F-4D48-AA93-C27FBBF61763}"/>
              </a:ext>
            </a:extLst>
          </p:cNvPr>
          <p:cNvSpPr txBox="1"/>
          <p:nvPr/>
        </p:nvSpPr>
        <p:spPr>
          <a:xfrm>
            <a:off x="390279" y="133522"/>
            <a:ext cx="11352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40398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ED4BD0-9ADD-437E-8526-53FE5C304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0ACAF8-1286-41C3-8582-AFE252DF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331E8-F937-44FF-BD15-9E995D7C4AE0}"/>
              </a:ext>
            </a:extLst>
          </p:cNvPr>
          <p:cNvSpPr txBox="1"/>
          <p:nvPr/>
        </p:nvSpPr>
        <p:spPr>
          <a:xfrm>
            <a:off x="422364" y="832294"/>
            <a:ext cx="110103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&lt;meta charset="UTF-8"&gt;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&lt;title&gt;HTML Elements Example&lt;/title&gt;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&lt;p&gt;&lt;cite&gt;Example Source&lt;/cite&gt; refers to a source citation.&lt;/p&gt;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&lt;p&gt;Use the &lt;code&gt;print()&lt;/code&gt; function in Python to display output.&lt;/p&gt;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dfn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&gt;HTML&lt;/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dfn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stands for Hypertext Markup Language.&lt;/p&gt;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kbd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&gt;Ctrl + C&lt;/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kbd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is used to copy text.&lt;/p&gt;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samp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&gt;Output: Success&lt;/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samp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is an example of a system message.&lt;/p&gt;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&lt;p&gt;The &lt;var&gt;x&lt;/var&gt; variable stores the result of the calculation.&lt;/p&gt;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77ADE-D847-4F50-99B1-234154CBB462}"/>
              </a:ext>
            </a:extLst>
          </p:cNvPr>
          <p:cNvSpPr txBox="1"/>
          <p:nvPr/>
        </p:nvSpPr>
        <p:spPr>
          <a:xfrm>
            <a:off x="390279" y="-10856"/>
            <a:ext cx="11352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13238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70B7-46F9-487E-9BC6-83F84D8AA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29664"/>
            <a:ext cx="10058400" cy="1450757"/>
          </a:xfrm>
        </p:spPr>
        <p:txBody>
          <a:bodyPr/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Ordered List</a:t>
            </a:r>
            <a:br>
              <a:rPr lang="en-US" sz="1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4C816-0BF0-422A-A6C2-1AC8646E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D6FCE-68CC-4C74-A266-0A0AEC17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B08942-A275-4101-9126-BAB422840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80988" indent="-225425" algn="just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2809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ordered list displays a numbering or lettering system to itemize information</a:t>
            </a:r>
          </a:p>
          <a:p>
            <a:pPr marL="280988" indent="-225425" algn="just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2809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items are automatically numbered or lettered based on the chosen format</a:t>
            </a:r>
          </a:p>
          <a:p>
            <a:pPr marL="280988" indent="-225425" algn="just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2809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lists begin with an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 and end with an 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</a:t>
            </a:r>
          </a:p>
          <a:p>
            <a:pPr marL="280988" indent="-225425" algn="just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2809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list item begins with an &lt; tag and ends with an &lt;/ tag&gt;</a:t>
            </a:r>
          </a:p>
          <a:p>
            <a:pPr marL="280988" indent="-225425" algn="just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2809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Ordered Lists</a:t>
            </a:r>
          </a:p>
          <a:p>
            <a:pPr marL="750888" indent="-342900" algn="just">
              <a:lnSpc>
                <a:spcPct val="100000"/>
              </a:lnSpc>
              <a:buFont typeface="Wingdings" panose="05000000000000000000" pitchFamily="2" charset="2"/>
              <a:buChar char="ü"/>
              <a:tabLst>
                <a:tab pos="8016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Numerals ( Items are numbered using standard numerals 1 2 3</a:t>
            </a:r>
          </a:p>
          <a:p>
            <a:pPr marL="750888" indent="-342900" algn="just">
              <a:lnSpc>
                <a:spcPct val="100000"/>
              </a:lnSpc>
              <a:buFont typeface="Wingdings" panose="05000000000000000000" pitchFamily="2" charset="2"/>
              <a:buChar char="ü"/>
              <a:tabLst>
                <a:tab pos="8016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 Letters Use type="A“</a:t>
            </a:r>
          </a:p>
          <a:p>
            <a:pPr marL="750888" indent="-342900" algn="just">
              <a:lnSpc>
                <a:spcPct val="100000"/>
              </a:lnSpc>
              <a:buFont typeface="Wingdings" panose="05000000000000000000" pitchFamily="2" charset="2"/>
              <a:buChar char="ü"/>
              <a:tabLst>
                <a:tab pos="8016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 Letters Use type="a"</a:t>
            </a:r>
          </a:p>
          <a:p>
            <a:pPr marL="750888" indent="-342900" algn="just">
              <a:lnSpc>
                <a:spcPct val="100000"/>
              </a:lnSpc>
              <a:buFont typeface="Wingdings" panose="05000000000000000000" pitchFamily="2" charset="2"/>
              <a:buChar char="ü"/>
              <a:tabLst>
                <a:tab pos="8016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 Roman Numerals Use type="I"</a:t>
            </a:r>
          </a:p>
          <a:p>
            <a:pPr marL="750888" indent="-342900" algn="just">
              <a:lnSpc>
                <a:spcPct val="100000"/>
              </a:lnSpc>
              <a:buFont typeface="Wingdings" panose="05000000000000000000" pitchFamily="2" charset="2"/>
              <a:buChar char="ü"/>
              <a:tabLst>
                <a:tab pos="8016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 Roman Numerals Use type="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52247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319378-9FEC-4DAB-BD90-15635CE4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6C4AE-0C46-482F-A3DF-7256D023C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5162843" cy="402335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&lt;meta charset="UTF-8"&gt;  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&lt;title&gt;Ordered List Example&lt;/title&gt;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h3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 To Learn Basic Web Design&lt;/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h3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49B055-296F-4D0B-8E45-0CA5CBD1A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6221" y="1845733"/>
            <a:ext cx="4937760" cy="402336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ol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 type="1"&gt;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&lt;li&gt;Learn the basics of HTML&lt;/li&gt;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&lt;li&gt;Understand CSS for styling&lt;/li&gt;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&lt;li&gt;Get familiar with responsive design principles&lt;/li&gt;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ol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&lt;/html&gt;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4B66B-6F52-42BE-806D-75695234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30C47-A256-4D4C-B2F0-14D38FCB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42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EC7E-EE35-4F97-B4E7-BA16A424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88979"/>
          </a:xfrm>
        </p:spPr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Ordered List Attributes in </a:t>
            </a:r>
            <a:r>
              <a:rPr lang="en-US" sz="40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HTML5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0B27-CCA5-4A6E-8BBD-8A74A8471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75394"/>
            <a:ext cx="10058400" cy="289928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attribute</a:t>
            </a:r>
          </a:p>
          <a:p>
            <a:pPr marL="576263" indent="-90488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you to specify the starting number for an ordered list</a:t>
            </a:r>
          </a:p>
          <a:p>
            <a:pPr marL="576263" indent="-90488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list starts at 1 but you can change it to any integer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reversed attribute</a:t>
            </a:r>
          </a:p>
          <a:p>
            <a:pPr marL="463550" indent="-90488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configures the list markers to display in descending order</a:t>
            </a:r>
          </a:p>
          <a:p>
            <a:pPr marL="463550" indent="-90488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applied, the numbering starts from the highest number and decreases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3B53C-4294-43CA-A371-9EAF4462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EC05C-0296-4D22-B9C2-0F5DD1BB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D1A175-A45D-4C1F-B8F5-40299E9F6D43}"/>
              </a:ext>
            </a:extLst>
          </p:cNvPr>
          <p:cNvSpPr txBox="1"/>
          <p:nvPr/>
        </p:nvSpPr>
        <p:spPr>
          <a:xfrm>
            <a:off x="3077308" y="4730953"/>
            <a:ext cx="6098344" cy="163121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ol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start="5" reversed="reversed"&gt;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&lt;li&gt;Item 5&lt;/li&gt;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&lt;li&gt;Item 4&lt;/li&gt;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&lt;li&gt;Item 3&lt;/li&gt;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&lt;/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ol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5756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15BE-76CA-4A33-A006-1F995B94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Unordered List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79B2-0893-42BC-B2AF-B7AB6A443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700" indent="-407988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unordered list displays a bullet or list marker before each list entry</a:t>
            </a:r>
          </a:p>
          <a:p>
            <a:pPr marL="520700" indent="-407988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Unordered lists begin with an &lt;ul&gt; tag and end with an &lt;/ul&gt; tag</a:t>
            </a:r>
          </a:p>
          <a:p>
            <a:pPr marL="520700" indent="-407988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list item begins with an &lt;li&gt; tag and ends with an &lt;/li&gt; tag</a:t>
            </a:r>
          </a:p>
          <a:p>
            <a:pPr marL="520700" indent="-407988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Unordered Lists:</a:t>
            </a:r>
          </a:p>
          <a:p>
            <a:pPr marL="914400" lvl="1" indent="-18256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 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(default)</a:t>
            </a:r>
          </a:p>
          <a:p>
            <a:pPr marL="914400" lvl="1" indent="-18256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 use type=“square”</a:t>
            </a:r>
          </a:p>
          <a:p>
            <a:pPr marL="914400" lvl="1" indent="-18256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 use type=“circle”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E514A-D576-45B7-8270-1AE7DDFC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8A15B-D0CE-4E22-A06B-CB6B1175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49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8743-152F-4501-9A0B-196CEC63E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47FA-4C36-42A3-978B-3F631E1AB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6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&lt;title&gt; Heading and List&lt;/title&gt;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&lt;meta charset="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utf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-8"&gt;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&lt;h1&gt; Popular Web Server&lt;/h1&gt;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&lt;ul&gt;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it-IT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&lt;li&gt; Apache Web server&lt;/li&gt;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&lt;li&gt; Microsoft IIS&lt;/li&gt;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it-IT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&lt;li&gt; Oracle iPlanetWeb Server&lt;/li&gt;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&lt;/ul&gt;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&lt;/html&gt;</a:t>
            </a:r>
            <a:r>
              <a:rPr lang="en-US" sz="22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30 </a:t>
            </a: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8B3C8-9A71-4025-BD5E-15D1011A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5B4F6-A75A-483A-9F02-27B86C1B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72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279E-D523-4422-964A-2CBF909E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Description List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09DF4-5572-4E71-9E27-288581342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3550" indent="-407988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description list organizes terms and their corresponding descriptions</a:t>
            </a:r>
          </a:p>
          <a:p>
            <a:pPr marL="463550" indent="-407988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Begins with the &lt;dl&gt; tag and ends with &lt;/dl&gt;</a:t>
            </a:r>
          </a:p>
          <a:p>
            <a:pPr marL="463550" indent="-407988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term or name is defined with the &lt;dt&gt; tag (Definition Term)</a:t>
            </a:r>
          </a:p>
          <a:p>
            <a:pPr marL="463550" indent="-407988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description follows with the &lt;dd&gt; tag (Definition Description)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48870-E071-4AE6-A374-EC0A29825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AF0C1-48D8-4DB8-A5EF-4DABCDED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73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B013-6251-49AB-914F-6347541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61E4F-5C36-43A9-8C9F-CCD8D0758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713" y="1874762"/>
            <a:ext cx="11088915" cy="4438952"/>
          </a:xfrm>
        </p:spPr>
        <p:txBody>
          <a:bodyPr>
            <a:noAutofit/>
          </a:bodyPr>
          <a:lstStyle/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&lt;dl&gt;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&lt;dt&gt;HTML&lt;/dt&gt;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&lt;dd&gt;HTML stands for </a:t>
            </a:r>
            <a:r>
              <a:rPr lang="en-US" sz="24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HyperText</a:t>
            </a:r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 Markup Language, used to create webpages.&lt;/dd&gt;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&lt;dt&gt;CSS&lt;/dt&gt;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&lt;dd&gt;CSS stands for Cascading Style Sheets, used to style the layout of webpages.&lt;/dd&gt;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&lt;dt&gt;JavaScript&lt;/dt&gt;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&lt;dd&gt;JavaScript is a programming language used to create interactive effects with in web browsers.&lt;/dd&gt;</a:t>
            </a:r>
          </a:p>
          <a:p>
            <a:r>
              <a:rPr lang="en-US" sz="24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&lt;/dl&gt;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066A3-0DF9-4E38-B6FE-83A0A269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1B915-E6ED-49A3-A5BB-46FB5243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98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75B5F-386A-410B-AF69-128C1068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Special Characters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A9947-F6CE-4317-A3DD-DF70BF15B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Double Quotation mark	&amp;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quot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;	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Single Quotation mark	&amp;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rsquo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;	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Copyright ©		&amp;copy;	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Less than		&amp;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;	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Greater than		&amp;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;	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Ampersand		&amp;amp;	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Heart ♥			&amp;hearts;	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Blank space		&amp;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nbsp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;	</a:t>
            </a:r>
          </a:p>
          <a:p>
            <a:r>
              <a:rPr lang="en-US" sz="18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</a:rPr>
              <a:t>Long dash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	&amp;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mdash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;	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EA878-4934-4C16-9FFC-DB9DB66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71D6E-8567-45B9-B683-275859C6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65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C301-D821-4C99-8994-C56E7892B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23701"/>
          </a:xfrm>
        </p:spPr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Sample Code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98D4A-26B9-47ED-8CAB-0127B7E1D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410304"/>
            <a:ext cx="10058400" cy="451152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&lt;!DOCTYPE html&gt;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&lt;html lang="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en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"&gt;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&lt;head&gt;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&lt;meta charset="UTF-8"&gt;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&lt;title&gt;Contact Us&lt;/title&gt;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&lt;/head&gt;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&lt;body&gt;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&gt;Contact Us&lt;/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h1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&lt;p&gt;Email: support &amp;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nbsp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; &amp;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commat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; &amp;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nbsp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; 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abc.com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&lt;/p&gt;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&lt;p&gt;Business Hours: 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9:00AM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 &amp;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ndash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; 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5:00PM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&lt;/p&gt;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&lt;p&gt;All rights reserved &amp;copy; 2024 ABC Company&lt;/p&gt;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&lt;p&gt;Secure your account with symbols like &amp;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lt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;, &amp;</a:t>
            </a:r>
            <a:r>
              <a:rPr lang="en-US" sz="2200" b="0" i="0" u="none" strike="noStrike" baseline="0" dirty="0" err="1">
                <a:solidFill>
                  <a:srgbClr val="404040"/>
                </a:solidFill>
                <a:latin typeface="Times New Roman" panose="02020603050405020304" pitchFamily="18" charset="0"/>
              </a:rPr>
              <a:t>gt</a:t>
            </a: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;, and &amp;amp;.&lt;/p&gt;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&lt;p&gt;We &amp;hearts; our customers!&lt;/p&gt;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&lt;/body&gt;</a:t>
            </a:r>
          </a:p>
          <a:p>
            <a:pPr>
              <a:spcBef>
                <a:spcPts val="0"/>
              </a:spcBef>
            </a:pPr>
            <a:r>
              <a:rPr lang="en-US" sz="2200" b="0" i="0" u="none" strike="noStrike" baseline="0" dirty="0">
                <a:solidFill>
                  <a:srgbClr val="404040"/>
                </a:solidFill>
                <a:latin typeface="Times New Roman" panose="02020603050405020304" pitchFamily="18" charset="0"/>
              </a:rPr>
              <a:t>&lt;/html&gt;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D9D02-E16E-49CF-88C3-138E6FCDC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CEIT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A507E-1BC6-49BD-8178-3F223C4D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24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7561-FD38-4B3F-BAA2-477E9F76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49053-7312-4F49-95AD-B322AAC03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2866944"/>
            <a:ext cx="10058400" cy="2253697"/>
          </a:xfrm>
        </p:spPr>
        <p:txBody>
          <a:bodyPr>
            <a:normAutofit/>
          </a:bodyPr>
          <a:lstStyle/>
          <a:p>
            <a:pPr marL="0" algn="ctr" defTabSz="457200"/>
            <a:r>
              <a:rPr lang="en-US" sz="5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5400" b="1" i="0" u="none" strike="noStrike" baseline="0" dirty="0">
                <a:solidFill>
                  <a:srgbClr val="252525"/>
                </a:solidFill>
                <a:latin typeface="Times New Roman" panose="02020603050405020304" pitchFamily="18" charset="0"/>
              </a:rPr>
              <a:t>Configuring Color and Text with CSS</a:t>
            </a:r>
            <a:endParaRPr lang="en-US" sz="540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4D7A2-F6CB-42F0-9E21-0E89D751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D0052-7442-47AC-81F2-3842616E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6401-0618-4E9B-B091-9526C4A4512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422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3460</TotalTime>
  <Words>2729</Words>
  <Application>Microsoft Office PowerPoint</Application>
  <PresentationFormat>Widescreen</PresentationFormat>
  <Paragraphs>406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Wingdings</vt:lpstr>
      <vt:lpstr>Retrospect</vt:lpstr>
      <vt:lpstr>  HTML Basics</vt:lpstr>
      <vt:lpstr>What is HTML?</vt:lpstr>
      <vt:lpstr>Example HTML5 Web Page</vt:lpstr>
      <vt:lpstr>HTML Elements</vt:lpstr>
      <vt:lpstr>Head, Title, Meta, and Body Elements</vt:lpstr>
      <vt:lpstr>PowerPoint Presentation</vt:lpstr>
      <vt:lpstr>The &lt;title&gt; Element</vt:lpstr>
      <vt:lpstr>The &lt;meta&gt; Element</vt:lpstr>
      <vt:lpstr>The Body Section</vt:lpstr>
      <vt:lpstr>Sample HTML</vt:lpstr>
      <vt:lpstr>HTML Heading Elements</vt:lpstr>
      <vt:lpstr>Sample Code</vt:lpstr>
      <vt:lpstr>HTML Paragraph Elements</vt:lpstr>
      <vt:lpstr>HTML Paragraph Elements</vt:lpstr>
      <vt:lpstr>Output…</vt:lpstr>
      <vt:lpstr>Line Break Element (&lt;br&gt;)</vt:lpstr>
      <vt:lpstr>Sample Code</vt:lpstr>
      <vt:lpstr>Output…</vt:lpstr>
      <vt:lpstr>Blockquote Element</vt:lpstr>
      <vt:lpstr>Sample Code</vt:lpstr>
      <vt:lpstr>Phrase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Ordered List </vt:lpstr>
      <vt:lpstr>Sample Code</vt:lpstr>
      <vt:lpstr>Ordered List Attributes in HTML5</vt:lpstr>
      <vt:lpstr>Unordered List</vt:lpstr>
      <vt:lpstr>Sample Code</vt:lpstr>
      <vt:lpstr>Description List</vt:lpstr>
      <vt:lpstr>Sample Code</vt:lpstr>
      <vt:lpstr>Special Characters</vt:lpstr>
      <vt:lpstr>Sample Code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ASUS</cp:lastModifiedBy>
  <cp:revision>165</cp:revision>
  <dcterms:created xsi:type="dcterms:W3CDTF">2025-01-12T07:25:00Z</dcterms:created>
  <dcterms:modified xsi:type="dcterms:W3CDTF">2025-06-19T08:53:36Z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F6844BEF3C23486EBAD509752F85B19D_12</vt:lpwstr>
  </property>
  <property fmtid="{D5CDD505-2E9C-101B-9397-08002B2CF9AE}" pid="3" name="KSOProductBuildVer">
    <vt:lpwstr>1033-12.2.0.19307</vt:lpwstr>
  </property>
</Properties>
</file>